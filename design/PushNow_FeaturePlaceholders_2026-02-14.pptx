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14630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LANDING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Landing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algun Gothic"/>
              </a:rPr>
              <a:t>경쟁사 푸시를 ‘답’으로 바꾸는 워크플로우를 10초 안에 전달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10515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B7280"/>
                </a:solidFill>
                <a:latin typeface="Malgun Gothic"/>
              </a:rPr>
              <a:t>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80010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7360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algun Gothic"/>
              </a:rPr>
              <a:t>여기에 스크린샷을 넣으세요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90087"/>
            <a:ext cx="7360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추천 샷: 메인 히어로 + 실시간 데모(피드/타이밍/생성) 영역이 같이 보이게</a:t>
            </a:r>
            <a:br/>
            <a:r>
              <a:rPr sz="1200" b="0">
                <a:solidFill>
                  <a:srgbClr val="6B7280"/>
                </a:solidFill>
                <a:latin typeface="Malgun Gothic"/>
              </a:rPr>
              <a:t>경로: 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331720"/>
            <a:ext cx="2286000" cy="40233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19" y="2651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2944368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한 문장으로: 언제 보낼지 + 뭐라고 쓸지를 데이터로 추천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‘대시보드’가 아니라 ‘바로 실행 가능한 답’을 보여주는 첫 화면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3602735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376732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사용자 행동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4059935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첫 방문 → 기능(피드/타이밍/생성/트렌드/검토)로 즉시 진입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“이게 내 업무를 줄이겠는데?”를 체감시키는 데모 중심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19" y="4718303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488289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설명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5175503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수집 → 분석 → 생성 → 검증 흐름을 한 줄 워크플로우로 제시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신뢰 신호: 데이터 커버리지/최근 업데이트/실데이터 기반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5833871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599846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추천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6291071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Landing→Generate/Timing 진입률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CTA 클릭률, 스크롤 깊이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73952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51052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 | Feature Deep 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146304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Feed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algun Gothic"/>
              </a:rPr>
              <a:t>경쟁사 푸시를 실시간 타임라인으로 탐색하고, 맥락까지 한 번에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10515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B7280"/>
                </a:solidFill>
                <a:latin typeface="Malgun Gothic"/>
              </a:rPr>
              <a:t>/feed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80010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7360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algun Gothic"/>
              </a:rPr>
              <a:t>여기에 스크린샷을 넣으세요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90087"/>
            <a:ext cx="7360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추천 샷: 필터바 + 캘린더 + 카드 리스트가 한 화면에 보이게(상단 고정 네비 포함)</a:t>
            </a:r>
            <a:br/>
            <a:r>
              <a:rPr sz="1200" b="0">
                <a:solidFill>
                  <a:srgbClr val="6B7280"/>
                </a:solidFill>
                <a:latin typeface="Malgun Gothic"/>
              </a:rPr>
              <a:t>경로: /feed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331720"/>
            <a:ext cx="2286000" cy="40233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19" y="2651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2944368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수동 모니터링(앱 설치/캡처/공유)을 ‘검색 가능한 DB’로 전환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필요한 레퍼런스를 찾는 시간을 단축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3602735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376732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4059935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카테고리/앱/날짜 필터로 탐색 비용 최소화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카드 → 상세 모달에서 제목/본문/시간/유사 맥락 확인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CTA: “이런 메시지 만들기”로 생성 화면 연결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19" y="4946903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511149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설명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5404103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모니터링이 ‘기록’으로 남아 팀 자산이 된다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확인→생성으로 이어지는 버튼 하나가 업무 흐름을 만든다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6062471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622706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추천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6519671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필터 사용률, 상세보기율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모달에서 Generate로 이동률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73952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51052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 | Feature Deep 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14630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algun Gothic"/>
              </a:rPr>
              <a:t>요일×시간 발송 패턴에서 ‘골든아워(경쟁 저밀도)’를 추천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10515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B7280"/>
                </a:solidFill>
                <a:latin typeface="Malgun Gothic"/>
              </a:rPr>
              <a:t>/timing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80010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7360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algun Gothic"/>
              </a:rPr>
              <a:t>여기에 스크린샷을 넣으세요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90087"/>
            <a:ext cx="7360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추천 샷: 골든아워 TOP + 히트맵이 동시에 보이게(필터 영역 포함)</a:t>
            </a:r>
            <a:br/>
            <a:r>
              <a:rPr sz="1200" b="0">
                <a:solidFill>
                  <a:srgbClr val="6B7280"/>
                </a:solidFill>
                <a:latin typeface="Malgun Gothic"/>
              </a:rPr>
              <a:t>경로: /timing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331720"/>
            <a:ext cx="2286000" cy="40233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19" y="2651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2944368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감으로 정하던 발송 시간을 ‘경쟁 밀도’로 의사결정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팀 설득 가능한 근거(왜 이 시간인가)를 제공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3602735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376732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4059935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기간 필터(7/14/30/90)로 패턴 안정화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추천 TOP3 + 피해야 할 시간대까지 제시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앱 비교/기간 비교로 전략 차이를 빠르게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19" y="4946903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511149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설명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5404103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차트는 ‘리포트’가 아니라 ‘결정’을 돕는 UI여야 한다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‘추천’은 항상 설명(근거)과 함께 제공한다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6062471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622706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추천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6519671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골든아워 클릭률(=의사결정 트리거)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Timing→Generate 이동률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73952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51052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 | Feature Deep 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146304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algun Gothic"/>
              </a:rPr>
              <a:t>What(훅) + Why(심리 트리거)로 메시지 전략을 학습 가능한 언어로 분해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10515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B7280"/>
                </a:solidFill>
                <a:latin typeface="Malgun Gothic"/>
              </a:rPr>
              <a:t>/trends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80010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7360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algun Gothic"/>
              </a:rPr>
              <a:t>여기에 스크린샷을 넣으세요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90087"/>
            <a:ext cx="7360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추천 샷: 전략 분포(What) + 트리거 분포(Why) 2개 카드가 같이 보이게</a:t>
            </a:r>
            <a:br/>
            <a:r>
              <a:rPr sz="1200" b="0">
                <a:solidFill>
                  <a:srgbClr val="6B7280"/>
                </a:solidFill>
                <a:latin typeface="Malgun Gothic"/>
              </a:rPr>
              <a:t>경로: /trends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331720"/>
            <a:ext cx="2286000" cy="40233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19" y="2651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2944368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레퍼런스를 ‘많이 보기’에서 ‘패턴 이해’로 바꿈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팀 공유용 요약(분포/상위 전략) 자료가 바로 나온다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3602735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376732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4059935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전략(훅) 분포: 어떤 메시지를 보내는가(What)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심리 트리거 분포: 왜 클릭하게 만드는가(Why)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필터(기간/앱)로 카테고리·브랜드별 차이를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19" y="4946903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511149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설명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5404103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브랜드 카피를 ‘감’이 아닌 ‘구성 요소’로 설명 가능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분석 결과를 Generate 전략 선택으로 연결하기 쉬움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6062471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622706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추천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6519671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전략/트리거 선택률, 필터 사용률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Trends→Generate 이동률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73952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51052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 | Feature Deep 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1463040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GENERATE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Generate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algun Gothic"/>
              </a:rPr>
              <a:t>목적·전략·톤을 조합해 ‘바로 쓸 수 있는’ 푸시 카피를 6안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10515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B7280"/>
                </a:solidFill>
                <a:latin typeface="Malgun Gothic"/>
              </a:rPr>
              <a:t>/generate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80010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7360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algun Gothic"/>
              </a:rPr>
              <a:t>여기에 스크린샷을 넣으세요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90087"/>
            <a:ext cx="7360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추천 샷: 입력 스텝 + 결과 카드(6안) 중 하나가 보이게(복사 버튼 포함)</a:t>
            </a:r>
            <a:br/>
            <a:r>
              <a:rPr sz="1200" b="0">
                <a:solidFill>
                  <a:srgbClr val="6B7280"/>
                </a:solidFill>
                <a:latin typeface="Malgun Gothic"/>
              </a:rPr>
              <a:t>경로: /generate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331720"/>
            <a:ext cx="2286000" cy="40233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19" y="2651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2944368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카피를 ‘처음부터 쓰기’가 아니라 ‘선택/수정’으로 전환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실무에서 가장 중요한 속도(초안 생성)를 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3602735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376732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4059935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목적(혜택/신상/리마인드/가치)로 메시지 방향 고정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전략(훅)·톤 선택으로 변주의 범위를 통제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결과 6안 제공 + 복사/재생성으로 바로 실행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19" y="4946903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511149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설명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5404103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‘AI가 써준다’보다 ‘내 의도를 반영해준다’가 핵심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결과는 다양하되, 톤과 목적은 일관되게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6062471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622706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추천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6519671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생성 완료율, 복사율, 재생성률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Generate→Review 이동률(선택)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73952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51052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 | Feature Deep 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94360"/>
            <a:ext cx="146304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11827"/>
                </a:solidFill>
                <a:latin typeface="Malgun Gothic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algun Gothic"/>
              </a:rPr>
              <a:t>발송 전 마지막 점검: 미리보기 + A/B 비교 + 유사 사례 벤치마킹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1051560"/>
            <a:ext cx="2194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B7280"/>
                </a:solidFill>
                <a:latin typeface="Malgun Gothic"/>
              </a:rPr>
              <a:t>/review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8001000" cy="4023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7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7360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algun Gothic"/>
              </a:rPr>
              <a:t>여기에 스크린샷을 넣으세요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90087"/>
            <a:ext cx="7360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추천 샷: 단일/비교 탭 + 미리보기 + 유사 사례 영역이 같이 보이게</a:t>
            </a:r>
            <a:br/>
            <a:r>
              <a:rPr sz="1200" b="0">
                <a:solidFill>
                  <a:srgbClr val="6B7280"/>
                </a:solidFill>
                <a:latin typeface="Malgun Gothic"/>
              </a:rPr>
              <a:t>경로: /review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2331720"/>
            <a:ext cx="2286000" cy="4023360"/>
          </a:xfrm>
          <a:prstGeom prst="roundRect">
            <a:avLst/>
          </a:prstGeom>
          <a:solidFill>
            <a:srgbClr val="FAFA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19" y="26517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가치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19" y="2944368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실수 비용이 큰 푸시 발송에 ‘검수 단계’를 만든다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경쟁사 유사 사례를 보며 표현/톤 리스크를 줄인다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19" y="3602735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19" y="3767327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핵심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19" y="4059935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단일/ A-B 비교로 후보 문장을 빠르게 판단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디바이스 프리뷰로 실제 노출 형태 확인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유사 사례/이모지/타이밍 힌트로 마무리 보정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19" y="4946903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5111495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설명 포인트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19" y="5404103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좋은 카피는 ‘생성’보다 ‘검토’에서 완성된다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벤치마킹을 자동화해 팀의 카피 기준을 맞춘다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19" y="6062471"/>
            <a:ext cx="16459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6227063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Malgun Gothic"/>
              </a:rPr>
              <a:t>추천 지표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6519671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Review 진입률, A/B 탭 사용률</a:t>
            </a:r>
          </a:p>
          <a:p>
            <a:pPr algn="l"/>
            <a:r>
              <a:rPr sz="1200" b="0">
                <a:solidFill>
                  <a:srgbClr val="6B7280"/>
                </a:solidFill>
                <a:latin typeface="Malgun Gothic"/>
              </a:rPr>
              <a:t>• 유사 사례 클릭/스크롤, 최종 복사율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6473952"/>
            <a:ext cx="10561320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51052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Malgun Gothic"/>
              </a:rPr>
              <a:t>PushNow | Feature Deep 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