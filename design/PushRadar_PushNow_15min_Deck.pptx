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55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Push Radar + Push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D9E1F1"/>
                </a:solidFill>
                <a:latin typeface="Malgun Gothic"/>
              </a:rPr>
              <a:t>실시간 수집부터 발송 의사결정까지 이어지는 푸시 메시지 운영 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139696"/>
            <a:ext cx="4069080" cy="502920"/>
          </a:xfrm>
          <a:prstGeom prst="roundRect">
            <a:avLst/>
          </a:prstGeom>
          <a:solidFill>
            <a:srgbClr val="26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마케터 실무에서 바로 쓰는 데이터 기반 푸시 운영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3444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1307592"/>
            <a:ext cx="658368" cy="6583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80576" y="123444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ip.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8" y="1307592"/>
            <a:ext cx="658368" cy="6583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131552" y="123444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ikT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1307592"/>
            <a:ext cx="658368" cy="6583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29600" y="2185416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258568"/>
            <a:ext cx="658368" cy="6583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80576" y="2185416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G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2258568"/>
            <a:ext cx="658368" cy="65836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0131552" y="2185416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Q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4" y="2258568"/>
            <a:ext cx="658368" cy="65836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229600" y="3136392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LO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2" y="3209544"/>
            <a:ext cx="658368" cy="65836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180576" y="3136392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C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3728" y="3209544"/>
            <a:ext cx="658368" cy="65836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131552" y="3136392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1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29C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4704" y="3209544"/>
            <a:ext cx="658368" cy="6583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2880360"/>
            <a:ext cx="65836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DDE6F4"/>
                </a:solidFill>
                <a:latin typeface="Malgun Gothic"/>
              </a:rPr>
              <a:t>오늘 핵심: 왜 만들었고, 실제로 무엇이 달라졌는가</a:t>
            </a:r>
          </a:p>
          <a:p>
            <a:pPr algn="l"/>
            <a:r>
              <a:rPr sz="1500" b="0">
                <a:solidFill>
                  <a:srgbClr val="DDE6F4"/>
                </a:solidFill>
                <a:latin typeface="Malgun Gothic"/>
              </a:rPr>
              <a:t>1) Push Radar: 스마트폰 알림 수집/정제/저장</a:t>
            </a:r>
          </a:p>
          <a:p>
            <a:pPr algn="l"/>
            <a:r>
              <a:rPr sz="1500" b="0">
                <a:solidFill>
                  <a:srgbClr val="DDE6F4"/>
                </a:solidFill>
                <a:latin typeface="Malgun Gothic"/>
              </a:rPr>
              <a:t>2) Push Now: 분석/검토/생성/발송 타이밍 의사결정</a:t>
            </a:r>
          </a:p>
          <a:p>
            <a:pPr algn="l"/>
            <a:r>
              <a:rPr sz="1500" b="0">
                <a:solidFill>
                  <a:srgbClr val="DDE6F4"/>
                </a:solidFill>
                <a:latin typeface="Malgun Gothic"/>
              </a:rPr>
              <a:t>3) 실전성: 카피 품질 + 운영 리스크 최소화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BCBE6"/>
                </a:solidFill>
                <a:latin typeface="Malgun Gothic"/>
              </a:rPr>
              <a:t>발표일: 2026-02-13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왜 이 서비스를 만들었나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루틴 업무지만, 실수 비용이 큰 푸시 발송을 데이터로 바꾸기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852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947672"/>
            <a:ext cx="64008" cy="1865376"/>
          </a:xfrm>
          <a:prstGeom prst="rect">
            <a:avLst/>
          </a:prstGeom>
          <a:solidFill>
            <a:srgbClr val="F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029967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현업의 진짜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478024"/>
            <a:ext cx="5532120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메시지는 짧게 쓰지만 톤/설득/브랜드 리스크까지 같이 관리해야 함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한 번 발송하면 취소 불가, 대규모 서비스일수록 부담이 큼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영업/운영 요청을 감으로 거절하면 내부 설득이 어려움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69080"/>
            <a:ext cx="5852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4142232"/>
            <a:ext cx="64008" cy="1545336"/>
          </a:xfrm>
          <a:prstGeom prst="rect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4224528"/>
            <a:ext cx="5532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기획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4672584"/>
            <a:ext cx="5532120" cy="996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실무자가 반복 업무를 줄이고, 발송 판단 근거를 바로 설명할 수 있게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‘예쁜 카피’보다 ‘실전 투입 가능한 카피’를 우선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874519"/>
            <a:ext cx="4343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039112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687488"/>
                </a:solidFill>
                <a:latin typeface="Malgun Gothic"/>
              </a:rPr>
              <a:t>리스크</a:t>
            </a:r>
          </a:p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발송 취소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200400"/>
            <a:ext cx="4343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3364992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687488"/>
                </a:solidFill>
                <a:latin typeface="Malgun Gothic"/>
              </a:rPr>
              <a:t>운영 난이도</a:t>
            </a:r>
          </a:p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타이밍 + 카피 + 일관성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526279"/>
            <a:ext cx="4343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4690871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687488"/>
                </a:solidFill>
                <a:latin typeface="Malgun Gothic"/>
              </a:rPr>
              <a:t>시장 공백</a:t>
            </a:r>
          </a:p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대체 가능한 통합 서비스 부족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End-to-End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스마트폰 수집 → Supabase 저장 → 분석/생성 →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240280"/>
            <a:ext cx="2148840" cy="384048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267919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Push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081528"/>
            <a:ext cx="187451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실기기 알림 수집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Headless 태스크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2402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2240280"/>
            <a:ext cx="2148840" cy="384048"/>
          </a:xfrm>
          <a:prstGeom prst="rect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267919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Supabase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081528"/>
            <a:ext cx="187451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push_messages 저장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upsert + 중복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402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240280"/>
            <a:ext cx="2148840" cy="384048"/>
          </a:xfrm>
          <a:prstGeom prst="rect">
            <a:avLst/>
          </a:prstGeom>
          <a:solidFill>
            <a:srgbClr val="55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267919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Push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081528"/>
            <a:ext cx="187451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Feed/Trend/Timing/Review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Generate 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240280"/>
            <a:ext cx="2148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2240280"/>
            <a:ext cx="2148840" cy="384048"/>
          </a:xfrm>
          <a:prstGeom prst="rect">
            <a:avLst/>
          </a:prstGeom>
          <a:solidFill>
            <a:srgbClr val="FF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267919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실행/리포트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081528"/>
            <a:ext cx="187451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메시지 발송 의사결정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운영팀 공유 근거</a:t>
            </a:r>
          </a:p>
        </p:txBody>
      </p:sp>
      <p:sp>
        <p:nvSpPr>
          <p:cNvPr id="23" name="Chevron 22"/>
          <p:cNvSpPr/>
          <p:nvPr/>
        </p:nvSpPr>
        <p:spPr>
          <a:xfrm>
            <a:off x="3063240" y="2926080"/>
            <a:ext cx="411480" cy="777240"/>
          </a:xfrm>
          <a:prstGeom prst="chevron">
            <a:avLst/>
          </a:prstGeom>
          <a:solidFill>
            <a:srgbClr val="B0B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5806440" y="2926080"/>
            <a:ext cx="411480" cy="777240"/>
          </a:xfrm>
          <a:prstGeom prst="chevron">
            <a:avLst/>
          </a:prstGeom>
          <a:solidFill>
            <a:srgbClr val="B0B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8549640" y="2926080"/>
            <a:ext cx="411480" cy="777240"/>
          </a:xfrm>
          <a:prstGeom prst="chevron">
            <a:avLst/>
          </a:prstGeom>
          <a:solidFill>
            <a:srgbClr val="B0B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28032"/>
            <a:ext cx="106070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9303D"/>
                </a:solidFill>
                <a:latin typeface="Malgun Gothic"/>
              </a:rPr>
              <a:t>• 핵심 설계: 수집은 끊기지 않게, 저장은 중복되지 않게, 분석은 바로 이해되게</a:t>
            </a:r>
          </a:p>
          <a:p>
            <a:pPr lvl="1" algn="l"/>
            <a:r>
              <a:rPr sz="1100" b="0">
                <a:solidFill>
                  <a:srgbClr val="29303D"/>
                </a:solidFill>
                <a:latin typeface="Malgun Gothic"/>
              </a:rPr>
              <a:t>  - device_id 포함 충돌키로 다중 디바이스 환경에서 idempotent 보장</a:t>
            </a:r>
          </a:p>
          <a:p>
            <a:pPr lvl="1" algn="l"/>
            <a:r>
              <a:rPr sz="1100" b="0">
                <a:solidFill>
                  <a:srgbClr val="29303D"/>
                </a:solidFill>
                <a:latin typeface="Malgun Gothic"/>
              </a:rPr>
              <a:t>  - is_hidden=true 데이터는 화면/분석/추천에서 일관 제외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Push Radar에서 가장 크게 고민한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실제 디바이스 수집 신뢰성과 운영 안정성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" y="1901952"/>
            <a:ext cx="64008" cy="3968496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98424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수집 파이프라인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432304"/>
            <a:ext cx="3337560" cy="3419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Notification Listener 이벤트 수신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title/body/package/post_time 정규화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앱 허용목록/광고/이모지/길이 파생값 계산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Supabase upsert 저장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백그라운드/종료 상태 Headless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828800"/>
            <a:ext cx="3291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82312" y="1901952"/>
            <a:ext cx="64008" cy="3968496"/>
          </a:xfrm>
          <a:prstGeom prst="rect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1984248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트랜잭션 관점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432304"/>
            <a:ext cx="2971800" cy="3419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중복 수신은 전제하고, 저장 idempotency로 해결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onConflict: package_name + body + posted_at + device_id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duplicate 에러는 정상 케이스로 흡수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단건 원자성 유지로 경쟁상태 최소화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28800"/>
            <a:ext cx="3108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57031" y="1901952"/>
            <a:ext cx="64008" cy="3968496"/>
          </a:xfrm>
          <a:prstGeom prst="rect">
            <a:avLst/>
          </a:prstGeom>
          <a:solidFill>
            <a:srgbClr val="FF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984248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운영 관점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432304"/>
            <a:ext cx="2788920" cy="3419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is_hidden 플래그로 노이즈 데이터 즉시 차단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앱별 수집 on/off와 상태 복원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실시간 반영 + 실패 시 안전한 fallback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로컬/배포 환경 아이콘/파일명 이슈 보강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Push Now에서 바로 체감되는 가치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분석과 실행을 분리하지 않고 한 화면 흐름으로 연결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20240"/>
            <a:ext cx="3474720" cy="73152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0848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Feed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실시간 유입 메시지와 필터링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9202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920240"/>
            <a:ext cx="3474720" cy="73152"/>
          </a:xfrm>
          <a:prstGeom prst="rect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0848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Trend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심리 트리거/카피 패턴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9202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59" y="1920240"/>
            <a:ext cx="3474720" cy="73152"/>
          </a:xfrm>
          <a:prstGeom prst="rect">
            <a:avLst/>
          </a:prstGeom>
          <a:solidFill>
            <a:srgbClr val="FF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1" y="208483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Timing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추천/회피 시간대를 근거와 함께 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29000"/>
            <a:ext cx="3474720" cy="73152"/>
          </a:xfrm>
          <a:prstGeom prst="rect">
            <a:avLst/>
          </a:prstGeom>
          <a:solidFill>
            <a:srgbClr val="55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59359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Review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기기 프리뷰 + 이모지 추천 + 유사 카피 비교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4290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429000"/>
            <a:ext cx="3474720" cy="73152"/>
          </a:xfrm>
          <a:prstGeom prst="rect">
            <a:avLst/>
          </a:prstGeom>
          <a:solidFill>
            <a:srgbClr val="F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359359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81C24"/>
                </a:solidFill>
                <a:latin typeface="Malgun Gothic"/>
              </a:rPr>
              <a:t>Generate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6개 angle 실전 카피 즉시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251960"/>
            <a:ext cx="3977639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297680"/>
            <a:ext cx="3886200" cy="184708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프롬프트/생성에서 가장 중요하게 본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“멋진 문장”이 아니라 “발송 가능한 문장”을 만드는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5029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" y="1901952"/>
            <a:ext cx="64008" cy="4059935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1984248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생성 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432304"/>
            <a:ext cx="4709160" cy="3511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6개 angle 고정: direct/situation/question/emotional/cta/creative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reference + style corpus + previous 메시지 동시 반영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creative는 랜덤 전략/랜덤 톤으로 별도 호출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JSON 강제 출력으로 파싱/후처리 안정화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82880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901952"/>
            <a:ext cx="64008" cy="4059935"/>
          </a:xfrm>
          <a:prstGeom prst="rect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98424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품질 보정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432304"/>
            <a:ext cx="4892040" cy="3511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Jaccard 유사도 검사로 이전 생성안과 중복 회피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길이 분산 점검: 1~5 메시지가 한 길이대로 몰리지 않게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상투어/반복 오프너 감지 시 재생성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문장 종결/길이/순서 normalize로 운영 가능한 포맷 유지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Timing 로직 정교화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단순 평균 비교를 넘어, 앱/시장 밀도를 함께 보는 추천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65836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4297049"/>
            <a:ext cx="530352" cy="658998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5010912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87488"/>
                </a:solidFill>
                <a:latin typeface="Malgun Gothic"/>
              </a:rPr>
              <a:t>월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3218688"/>
            <a:ext cx="530352" cy="1737360"/>
          </a:xfrm>
          <a:prstGeom prst="rect">
            <a:avLst/>
          </a:prstGeom>
          <a:solidFill>
            <a:srgbClr val="F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1" y="5010912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87488"/>
                </a:solidFill>
                <a:latin typeface="Malgun Gothic"/>
              </a:rPr>
              <a:t>월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4027459"/>
            <a:ext cx="530352" cy="928588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5010912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87488"/>
                </a:solidFill>
                <a:latin typeface="Malgun Gothic"/>
              </a:rPr>
              <a:t>화 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4147276"/>
            <a:ext cx="530352" cy="808771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5010912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87488"/>
                </a:solidFill>
                <a:latin typeface="Malgun Gothic"/>
              </a:rPr>
              <a:t>수 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3488278"/>
            <a:ext cx="530352" cy="1467769"/>
          </a:xfrm>
          <a:prstGeom prst="rect">
            <a:avLst/>
          </a:prstGeom>
          <a:solidFill>
            <a:srgbClr val="F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5010912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87488"/>
                </a:solidFill>
                <a:latin typeface="Malgun Gothic"/>
              </a:rPr>
              <a:t>목 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386912"/>
            <a:ext cx="530352" cy="569135"/>
          </a:xfrm>
          <a:prstGeom prst="rect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5010912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87488"/>
                </a:solidFill>
                <a:latin typeface="Malgun Gothic"/>
              </a:rPr>
              <a:t>금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14884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81C24"/>
                </a:solidFill>
                <a:latin typeface="Malgun Gothic"/>
              </a:rPr>
              <a:t>시장 대비 과밀 구간은 회피, 앱 내 반응 여지가 큰 구간은 추천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920240"/>
            <a:ext cx="3657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08392" y="1993392"/>
            <a:ext cx="64008" cy="1545336"/>
          </a:xfrm>
          <a:prstGeom prst="rect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207568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추천 시간대 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2523744"/>
            <a:ext cx="3337560" cy="996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왜 추천인지 설명(논리 흐름 + 계산 근거)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동점/복수 후보를 함께 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794760"/>
            <a:ext cx="3657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08392" y="3867912"/>
            <a:ext cx="64008" cy="1545336"/>
          </a:xfrm>
          <a:prstGeom prst="rect">
            <a:avLst/>
          </a:prstGeom>
          <a:solidFill>
            <a:srgbClr val="F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54696" y="395020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81C24"/>
                </a:solidFill>
                <a:latin typeface="Malgun Gothic"/>
              </a:rPr>
              <a:t>회피 시간대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696" y="4398264"/>
            <a:ext cx="3337560" cy="996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시장 과밀/앱 과밀 맥락을 분리 설명</a:t>
            </a:r>
          </a:p>
          <a:p>
            <a:pPr algn="l"/>
            <a:r>
              <a:rPr sz="1300" b="0">
                <a:solidFill>
                  <a:srgbClr val="29303D"/>
                </a:solidFill>
                <a:latin typeface="Malgun Gothic"/>
              </a:rPr>
              <a:t>• 툴팁으로 숫자 의미를 직관적으로 안내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기술적으로 특별하게 보이는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겉 UI보다, 운영 신뢰성을 먼저 설계한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3035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9303D"/>
                </a:solidFill>
                <a:latin typeface="Malgun Gothic"/>
              </a:rPr>
              <a:t>• 실기기 수집 실패/중복/백그라운드 문제를 먼저 해결</a:t>
            </a:r>
          </a:p>
          <a:p>
            <a:pPr lvl="1" algn="l"/>
            <a:r>
              <a:rPr sz="1200" b="0">
                <a:solidFill>
                  <a:srgbClr val="29303D"/>
                </a:solidFill>
                <a:latin typeface="Malgun Gothic"/>
              </a:rPr>
              <a:t>  - Headless 태스크 + 상태 복원 + idempotent upsert</a:t>
            </a:r>
          </a:p>
          <a:p>
            <a:pPr algn="l"/>
            <a:r>
              <a:rPr sz="1400" b="1">
                <a:solidFill>
                  <a:srgbClr val="29303D"/>
                </a:solidFill>
                <a:latin typeface="Malgun Gothic"/>
              </a:rPr>
              <a:t>• 분석 화면은 숫자보다 ‘판단 근거’ 전달을 강화</a:t>
            </a:r>
          </a:p>
          <a:p>
            <a:pPr lvl="1" algn="l"/>
            <a:r>
              <a:rPr sz="1200" b="0">
                <a:solidFill>
                  <a:srgbClr val="29303D"/>
                </a:solidFill>
                <a:latin typeface="Malgun Gothic"/>
              </a:rPr>
              <a:t>  - 추천/회피 시간대 설명형 UX, 모호한 지표 해석 보완</a:t>
            </a:r>
          </a:p>
          <a:p>
            <a:pPr algn="l"/>
            <a:r>
              <a:rPr sz="1400" b="1">
                <a:solidFill>
                  <a:srgbClr val="29303D"/>
                </a:solidFill>
                <a:latin typeface="Malgun Gothic"/>
              </a:rPr>
              <a:t>• 생성기는 모델 신뢰 + 최소 보정 원칙 균형</a:t>
            </a:r>
          </a:p>
          <a:p>
            <a:pPr lvl="1" algn="l"/>
            <a:r>
              <a:rPr sz="1200" b="0">
                <a:solidFill>
                  <a:srgbClr val="29303D"/>
                </a:solidFill>
                <a:latin typeface="Malgun Gothic"/>
              </a:rPr>
              <a:t>  - 과도한 하드코딩 대신 DB 스타일 기반 프롬프트 보강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828800"/>
            <a:ext cx="1234440" cy="621792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1143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828800"/>
            <a:ext cx="1783080" cy="621792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965960"/>
            <a:ext cx="1691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기존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828800"/>
            <a:ext cx="2423160" cy="621792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96596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우리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450592"/>
            <a:ext cx="1234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69464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카피 작성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450592"/>
            <a:ext cx="1783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569464"/>
            <a:ext cx="1691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경험 기반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50592"/>
            <a:ext cx="2423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569464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레퍼런스 + 품질 보정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072384"/>
            <a:ext cx="1234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191256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타이밍 선정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072384"/>
            <a:ext cx="1783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3191256"/>
            <a:ext cx="1691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감/단순 평균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3072384"/>
            <a:ext cx="2423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191256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앱/시장 밀도 결합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694176"/>
            <a:ext cx="1234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13048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설득 자료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694176"/>
            <a:ext cx="1783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813048"/>
            <a:ext cx="1691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주관적 설명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694176"/>
            <a:ext cx="2423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3813048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숫자 + 논리 흐름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315968"/>
            <a:ext cx="1234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434840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운영 안정성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4315968"/>
            <a:ext cx="17830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434840"/>
            <a:ext cx="16916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중복/누락 대응 약함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72600" y="4315968"/>
            <a:ext cx="2423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4434840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9303D"/>
                </a:solidFill>
                <a:latin typeface="Malgun Gothic"/>
              </a:rPr>
              <a:t>upsert/idempotent 설계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D5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CC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81C24"/>
                </a:solidFill>
                <a:latin typeface="Malgun Gothic"/>
              </a:rPr>
              <a:t>발표 데모 시나리오 (3분)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87488"/>
                </a:solidFill>
                <a:latin typeface="Malgun Gothic"/>
              </a:rPr>
              <a:t>데이터 수집부터 메시지 생성까지 한 번에 보여주는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057400"/>
            <a:ext cx="475488" cy="475488"/>
          </a:xfrm>
          <a:prstGeom prst="ellipse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93976"/>
            <a:ext cx="4754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93391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81C24"/>
                </a:solidFill>
                <a:latin typeface="Malgun Gothic"/>
              </a:rPr>
              <a:t>Push Radar 수집 확인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실기기 알림이 DB로 적재되는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53511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136391"/>
            <a:ext cx="475488" cy="475488"/>
          </a:xfrm>
          <a:prstGeom prst="ellipse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72968"/>
            <a:ext cx="4754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72383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81C24"/>
                </a:solidFill>
                <a:latin typeface="Malgun Gothic"/>
              </a:rPr>
              <a:t>Feed/Trend/Timing 확인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수집 데이터가 분석 화면에서 즉시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32504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215384"/>
            <a:ext cx="475488" cy="475488"/>
          </a:xfrm>
          <a:prstGeom prst="ellipse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4754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15137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81C24"/>
                </a:solidFill>
                <a:latin typeface="Malgun Gothic"/>
              </a:rPr>
              <a:t>Generate 6안 생성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전략/톤 입력 후 실전형 카피 출력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11496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5294376"/>
            <a:ext cx="475488" cy="475488"/>
          </a:xfrm>
          <a:prstGeom prst="ellipse">
            <a:avLst/>
          </a:prstGeom>
          <a:solidFill>
            <a:srgbClr val="2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30952"/>
            <a:ext cx="4754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2303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81C24"/>
                </a:solidFill>
                <a:latin typeface="Malgun Gothic"/>
              </a:rPr>
              <a:t>Review로 최종 검토</a:t>
            </a:r>
          </a:p>
          <a:p>
            <a:pPr algn="l"/>
            <a:r>
              <a:rPr sz="1200" b="0">
                <a:solidFill>
                  <a:srgbClr val="29303D"/>
                </a:solidFill>
                <a:latin typeface="Malgun Gothic"/>
              </a:rPr>
              <a:t>기기 프리뷰/이모지/유사 메시지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965960"/>
            <a:ext cx="4160520" cy="4160520"/>
          </a:xfrm>
          <a:prstGeom prst="roundRect">
            <a:avLst/>
          </a:prstGeom>
          <a:solidFill>
            <a:srgbClr val="F1F7FF"/>
          </a:solidFill>
          <a:ln>
            <a:solidFill>
              <a:srgbClr val="C4D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148840"/>
            <a:ext cx="3749039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81C24"/>
                </a:solidFill>
                <a:latin typeface="Malgun Gothic"/>
              </a:rPr>
              <a:t>데모에서 강조할 말</a:t>
            </a:r>
          </a:p>
          <a:p>
            <a:pPr algn="l"/>
            <a:r>
              <a:rPr sz="1200" b="0">
                <a:solidFill>
                  <a:srgbClr val="181C24"/>
                </a:solidFill>
                <a:latin typeface="Malgun Gothic"/>
              </a:rPr>
              <a:t/>
            </a:r>
          </a:p>
          <a:p>
            <a:pPr algn="l"/>
            <a:r>
              <a:rPr sz="1200" b="0">
                <a:solidFill>
                  <a:srgbClr val="181C24"/>
                </a:solidFill>
                <a:latin typeface="Malgun Gothic"/>
              </a:rPr>
              <a:t>• 감이 아니라 근거로 발송 결정을 한다</a:t>
            </a:r>
          </a:p>
          <a:p>
            <a:pPr algn="l"/>
            <a:r>
              <a:rPr sz="1200" b="0">
                <a:solidFill>
                  <a:srgbClr val="181C24"/>
                </a:solidFill>
                <a:latin typeface="Malgun Gothic"/>
              </a:rPr>
              <a:t>• 생성기는 문학이 아니라 운영도구다</a:t>
            </a:r>
          </a:p>
          <a:p>
            <a:pPr algn="l"/>
            <a:r>
              <a:rPr sz="1200" b="0">
                <a:solidFill>
                  <a:srgbClr val="181C24"/>
                </a:solidFill>
                <a:latin typeface="Malgun Gothic"/>
              </a:rPr>
              <a:t>• 수집-분석-생성이 하나의 루프로 돈다</a:t>
            </a:r>
          </a:p>
          <a:p>
            <a:pPr algn="l"/>
            <a:r>
              <a:rPr sz="1200" b="0">
                <a:solidFill>
                  <a:srgbClr val="181C24"/>
                </a:solidFill>
                <a:latin typeface="Malgun Gothic"/>
              </a:rPr>
              <a:t/>
            </a:r>
          </a:p>
          <a:p>
            <a:pPr algn="l"/>
            <a:r>
              <a:rPr sz="1200" b="0">
                <a:solidFill>
                  <a:srgbClr val="181C24"/>
                </a:solidFill>
                <a:latin typeface="Malgun Gothic"/>
              </a:rPr>
              <a:t>=&gt; 업무시간 단축 + 리스크 감소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731520"/>
            <a:ext cx="2926080" cy="2926080"/>
          </a:xfrm>
          <a:prstGeom prst="ellipse">
            <a:avLst/>
          </a:prstGeom>
          <a:solidFill>
            <a:srgbClr val="55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937760"/>
            <a:ext cx="3017520" cy="3017520"/>
          </a:xfrm>
          <a:prstGeom prst="ellipse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66928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다음 단계와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D9E1F1"/>
                </a:solidFill>
                <a:latin typeface="Malgun Gothic"/>
              </a:rPr>
              <a:t>실행 이후 성과 피드백까지 자동 학습 루프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3566160" cy="3520440"/>
          </a:xfrm>
          <a:prstGeom prst="roundRect">
            <a:avLst/>
          </a:prstGeom>
          <a:solidFill>
            <a:srgbClr val="1A2A4A"/>
          </a:solidFill>
          <a:ln>
            <a:solidFill>
              <a:srgbClr val="3A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20240"/>
            <a:ext cx="3566160" cy="402336"/>
          </a:xfrm>
          <a:prstGeom prst="rect">
            <a:avLst/>
          </a:prstGeom>
          <a:solidFill>
            <a:srgbClr val="55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975104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30일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32304"/>
            <a:ext cx="32461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성과 연결</a:t>
            </a:r>
          </a:p>
          <a:p>
            <a:pPr algn="l"/>
            <a:r>
              <a:rPr sz="1200" b="0">
                <a:solidFill>
                  <a:srgbClr val="D4DFF5"/>
                </a:solidFill>
                <a:latin typeface="Malgun Gothic"/>
              </a:rPr>
              <a:t>• CTR/전환 지표를 카피 생성 피드백에 연결</a:t>
            </a:r>
          </a:p>
          <a:p>
            <a:pPr algn="l"/>
            <a:r>
              <a:rPr sz="1200" b="0">
                <a:solidFill>
                  <a:srgbClr val="D4DFF5"/>
                </a:solidFill>
                <a:latin typeface="Malgun Gothic"/>
              </a:rPr>
              <a:t>• 타이밍 추천 근거에 성과 가중치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920240"/>
            <a:ext cx="3566160" cy="3520440"/>
          </a:xfrm>
          <a:prstGeom prst="roundRect">
            <a:avLst/>
          </a:prstGeom>
          <a:solidFill>
            <a:srgbClr val="1A2A4A"/>
          </a:solidFill>
          <a:ln>
            <a:solidFill>
              <a:srgbClr val="3A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920240"/>
            <a:ext cx="3566160" cy="402336"/>
          </a:xfrm>
          <a:prstGeom prst="rect">
            <a:avLst/>
          </a:prstGeom>
          <a:solidFill>
            <a:srgbClr val="1DC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975104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60일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432304"/>
            <a:ext cx="32461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시즌/이벤트 강화</a:t>
            </a:r>
          </a:p>
          <a:p>
            <a:pPr algn="l"/>
            <a:r>
              <a:rPr sz="1200" b="0">
                <a:solidFill>
                  <a:srgbClr val="D4DFF5"/>
                </a:solidFill>
                <a:latin typeface="Malgun Gothic"/>
              </a:rPr>
              <a:t>• 명절/시즌 캘린더 맥락 자동 반영</a:t>
            </a:r>
          </a:p>
          <a:p>
            <a:pPr algn="l"/>
            <a:r>
              <a:rPr sz="1200" b="0">
                <a:solidFill>
                  <a:srgbClr val="D4DFF5"/>
                </a:solidFill>
                <a:latin typeface="Malgun Gothic"/>
              </a:rPr>
              <a:t>• 카테고리별 추천 전략 자동 선택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920240"/>
            <a:ext cx="3566160" cy="3520440"/>
          </a:xfrm>
          <a:prstGeom prst="roundRect">
            <a:avLst/>
          </a:prstGeom>
          <a:solidFill>
            <a:srgbClr val="1A2A4A"/>
          </a:solidFill>
          <a:ln>
            <a:solidFill>
              <a:srgbClr val="3A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1920240"/>
            <a:ext cx="3566160" cy="402336"/>
          </a:xfrm>
          <a:prstGeom prst="rect">
            <a:avLst/>
          </a:prstGeom>
          <a:solidFill>
            <a:srgbClr val="FF9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7" y="1975104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90일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432304"/>
            <a:ext cx="324612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운영 자동화</a:t>
            </a:r>
          </a:p>
          <a:p>
            <a:pPr algn="l"/>
            <a:r>
              <a:rPr sz="1200" b="0">
                <a:solidFill>
                  <a:srgbClr val="D4DFF5"/>
                </a:solidFill>
                <a:latin typeface="Malgun Gothic"/>
              </a:rPr>
              <a:t>• 주간 리포트 자동 생성(PPT/PDF)</a:t>
            </a:r>
          </a:p>
          <a:p>
            <a:pPr algn="l"/>
            <a:r>
              <a:rPr sz="1200" b="0">
                <a:solidFill>
                  <a:srgbClr val="D4DFF5"/>
                </a:solidFill>
                <a:latin typeface="Malgun Gothic"/>
              </a:rPr>
              <a:t>• 캠페인 제안까지 반자동화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064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E2ECFF"/>
                </a:solidFill>
                <a:latin typeface="Malgun Gothic"/>
              </a:rPr>
              <a:t>핵심은 하나입니다. 푸시는 ‘발송 기능’이 아니라, ‘브랜드 의사결정’입니다.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382512"/>
            <a:ext cx="10607040" cy="18288"/>
          </a:xfrm>
          <a:prstGeom prst="rect">
            <a:avLst/>
          </a:prstGeom>
          <a:solidFill>
            <a:srgbClr val="DEE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87488"/>
                </a:solidFill>
                <a:latin typeface="Malgun Gothic"/>
              </a:rPr>
              <a:t>Push Radar × Push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87488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